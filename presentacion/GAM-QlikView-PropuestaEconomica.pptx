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 Propuesta Económica. Total neto: 414 UF. Horas: 188. Duración: 16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 del servicio: 6 entregables principales. 188 horas a 2.2 UF/hora = 414 UF neto.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Distribución de 188 horas. Total neto: 414 UF. IVA 19%: 78.66 UF. Total con IVA: 492.66 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1: 8 pagos por hito. Total neto 414 UF + IVA 78.66 UF = 492.66 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Opción 2: 10 cuotas de 49.27 UF c/u (IVA incluido). Total: 492.66 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Condiciones comerciales: vigencia 30 días, UF indexada al día de factura, exclusiones de licencias e infraestructura.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Próximos pasos: elegir opción de pago, firmar contrato y agendar kick-off.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1323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QlikView BI — Proyecto GAM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  |  Versión 1.0  |  Confidencial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1097280"/>
            <a:ext cx="3200400" cy="1280160"/>
          </a:xfrm>
          <a:prstGeom prst="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3252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UF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Neto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2743200"/>
            <a:ext cx="3200400" cy="1280160"/>
          </a:xfrm>
          <a:prstGeom prst="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3252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hrs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Consultor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32520" y="4389120"/>
            <a:ext cx="3200400" cy="1280160"/>
          </a:xfrm>
          <a:prstGeom prst="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32520" y="4526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" y="0"/>
            <a:ext cx="3840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7315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Servicio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y compromisos incluidos en la propuesta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— Propuesta Económica QlikView BI  |  Confidencial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6583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371600"/>
            <a:ext cx="347472" cy="1417320"/>
          </a:xfrm>
          <a:prstGeom prst="rect">
            <a:avLst>
              <a:gd name="adj" fmla="val 15789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" y="14173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y Arquitectura BI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modelo de datos, arquitectura QlikView, definición de KPIs y estructura de datos por área de negocio.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37160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9320" y="1371600"/>
            <a:ext cx="347472" cy="1417320"/>
          </a:xfrm>
          <a:prstGeom prst="rect">
            <a:avLst>
              <a:gd name="adj" fmla="val 15789"/>
            </a:avLst>
          </a:prstGeom>
          <a:solidFill>
            <a:srgbClr val="006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07608" y="141732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ETL y Modelo de Datos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extracción, transformación y carga (Load Script). Construcción de tablas de hechos, dimensiones y archivos QVD.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926080"/>
            <a:ext cx="347472" cy="1417320"/>
          </a:xfrm>
          <a:prstGeom prst="rect">
            <a:avLst>
              <a:gd name="adj" fmla="val 15789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" y="297180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por Área de Negocio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aplicaciones: Ventas, Finanzas y Operaciones. Diseño responsive con filtros globales y exportación Excel/PDF.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92608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989320" y="2926080"/>
            <a:ext cx="347472" cy="1417320"/>
          </a:xfrm>
          <a:prstGeom prst="rect">
            <a:avLst>
              <a:gd name="adj" fmla="val 15789"/>
            </a:avLst>
          </a:prstGeom>
          <a:solidFill>
            <a:srgbClr val="6A1B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07608" y="297180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de Acceso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28232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Access con Row-Level Security (RLS), configuración de roles y grupos de usuarios en QlikView Server.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48056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4480560"/>
            <a:ext cx="347472" cy="1417320"/>
          </a:xfrm>
          <a:prstGeom prst="rect">
            <a:avLst>
              <a:gd name="adj" fmla="val 15789"/>
            </a:avLst>
          </a:prstGeom>
          <a:solidFill>
            <a:srgbClr val="B71C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8328" y="452628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Recargas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tareas programadas en QMC: recarga diaria Ventas/Finanzas y cada 4 horas para Operaciones.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4480560"/>
            <a:ext cx="5486400" cy="1417320"/>
          </a:xfrm>
          <a:prstGeom prst="rect">
            <a:avLst>
              <a:gd name="adj" fmla="val 3871"/>
            </a:avLst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5989320" y="4480560"/>
            <a:ext cx="347472" cy="1417320"/>
          </a:xfrm>
          <a:prstGeom prst="rect">
            <a:avLst>
              <a:gd name="adj" fmla="val 15789"/>
            </a:avLst>
          </a:prstGeom>
          <a:solidFill>
            <a:srgbClr val="E651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07608" y="452628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28232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Go-Live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28232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administradores (8h), usuarios avanzados (4h) y usuarios finales (2h). Acompañamiento en go-live.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5852160"/>
            <a:ext cx="11521440" cy="658368"/>
          </a:xfrm>
          <a:prstGeom prst="rect">
            <a:avLst>
              <a:gd name="adj" fmla="val 8333"/>
            </a:avLst>
          </a:prstGeom>
          <a:solidFill>
            <a:srgbClr val="CADC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" y="5870448"/>
            <a:ext cx="112471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188 horas de consultoría están distribuidas entre todas las fases del proyecto (ver detalle en slide siguiente). La tarifa de referencia es de 2.2 UF/hora. No incluye licencias de software, infraestructura de servidor ni hosting.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" y="0"/>
            <a:ext cx="3840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7315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Horas y Costos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de las 188 horas de consultoría por fase — Tarifa: 2.2 UF/hora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— Propuesta Económica QlikView BI  |  Confidencial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6583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51560"/>
          <a:ext cx="11841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200400"/>
                <a:gridCol w="914400"/>
                <a:gridCol w="1005840"/>
                <a:gridCol w="1051560"/>
                <a:gridCol w="1051560"/>
                <a:gridCol w="105156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Horas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Neto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Levantamiento y Diseño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1–3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8.36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52.36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y Entorno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2–4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y Modelo de Datos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4–8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22.99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143.99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de Dashboards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7–12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20.90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130.90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Accesos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10–12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 de Cargas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26.18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QA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12–14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Capacitación y Go-Live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14–16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21.42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PROYECTO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414.00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78.66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492.66 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" y="0"/>
            <a:ext cx="3840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7315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— Pago por Hitos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se realiza al completar y aprobar cada fase del proyecto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— Propuesta Económica QlikView BI  |  Confidencial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6583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1024128"/>
            <a:ext cx="11823192" cy="502920"/>
          </a:xfrm>
          <a:prstGeom prst="rect">
            <a:avLst>
              <a:gd name="adj" fmla="val 9091"/>
            </a:avLst>
          </a:prstGeom>
          <a:solidFill>
            <a:srgbClr val="E8F4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" y="1042416"/>
            <a:ext cx="11521440" cy="4663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cuota se factura una vez que el hito correspondiente ha sido entregado y aprobado formalmente por el cliente (sign-off). Esto asegura el alineamiento entre pago y valor entregado.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572768"/>
          <a:ext cx="11841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914400"/>
                <a:gridCol w="822960"/>
                <a:gridCol w="960120"/>
                <a:gridCol w="960120"/>
                <a:gridCol w="1005840"/>
                <a:gridCol w="30175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 / Fase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Neto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Levantamiento y Diseño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8.36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52.36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BRD + wireframes aprobados + modelo conceptual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y Entorno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 QlikView instalado y configurado (Dev/QA/Prod)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y Modelo de Datos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22.99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143.99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ETL validados + QVDs generados + modelo de datos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de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20.90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130.90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apps QlikView: Ventas, Finanzas, Operaciones (UAT)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Accesos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Access + RLS configurado y auditado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 de Cargas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26.18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de recarga automática configuradas y probadas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de QA: datos conciliados + performance validado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Capacitación y Go-Live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21.42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Capacitaciones dictadas + Go-Live + manuales de usuario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414.00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78.66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492.66 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hitos completados y aprobados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" y="0"/>
            <a:ext cx="3840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7315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— 10 Cuotas Mensuales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fijos mensuales durante el período de implementación (meses 1 al 10)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— Propuesta Económica QlikView BI  |  Confidencial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6583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24128"/>
            <a:ext cx="2743200" cy="1325880"/>
          </a:xfrm>
          <a:prstGeom prst="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Mensual Neta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41.40 UF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 × 10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024128"/>
            <a:ext cx="2743200" cy="1325880"/>
          </a:xfrm>
          <a:prstGeom prst="rect">
            <a:avLst>
              <a:gd name="adj" fmla="val 5517"/>
            </a:avLst>
          </a:prstGeom>
          <a:solidFill>
            <a:srgbClr val="0160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64408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19% por cuota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64408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7.87 UF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264408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1024128"/>
            <a:ext cx="2743200" cy="1325880"/>
          </a:xfrm>
          <a:prstGeom prst="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08776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 Cuota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49.27 UF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incluido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61704" y="1024128"/>
            <a:ext cx="2743200" cy="1325880"/>
          </a:xfrm>
          <a:prstGeom prst="rect">
            <a:avLst>
              <a:gd name="adj" fmla="val 5517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53144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Contrato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153144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492.66 UF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cuotas con IVA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487168"/>
          <a:ext cx="11841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4846320"/>
                <a:gridCol w="1280160"/>
                <a:gridCol w="1280160"/>
                <a:gridCol w="132588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Principal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Levantamiento y Diseño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Infraestructura y Entorno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ETL y Modelo de Datos (inicio)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ETL y Modelo de Datos (avance)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F3/F4 ETL completado — Dashboards inicio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Desarrollo de Dashboards (avance)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F4/F5 Dashboards — Seguridad y Accesos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F5/F6 Seguridad — Automatización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 Pruebas y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 Capacitación y Go-Live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41.40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7.87 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7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49.27 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completo: 188 horas de consultoría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414.00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78.66 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492.66 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" y="0"/>
            <a:ext cx="3840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7315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Comerciales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86868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condiciones de la presente propuesta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— Propuesta Económica QlikView BI  |  Confidencial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0" y="6583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1051560"/>
            <a:ext cx="5715000" cy="2240280"/>
          </a:xfrm>
          <a:prstGeom prst="rect">
            <a:avLst>
              <a:gd name="adj" fmla="val 2449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1051560"/>
            <a:ext cx="5715000" cy="402336"/>
          </a:xfrm>
          <a:prstGeom prst="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" y="1344168"/>
            <a:ext cx="5715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" y="10972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y Validez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1527048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 propuesta tiene una vigencia de 30 días desde su emisión (hasta el 02 de octubre de 2026).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2093976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valores en UF se indexan automáticamente a la UF del día de facturación.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2660904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IVA (19%) se aplica sobre el valor en CLP equivalente a la UF del día de la factura.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62472" y="1051560"/>
            <a:ext cx="5715000" cy="2240280"/>
          </a:xfrm>
          <a:prstGeom prst="rect">
            <a:avLst>
              <a:gd name="adj" fmla="val 2449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62472" y="1051560"/>
            <a:ext cx="5715000" cy="402336"/>
          </a:xfrm>
          <a:prstGeom prst="rect">
            <a:avLst>
              <a:gd name="adj" fmla="val 13636"/>
            </a:avLst>
          </a:prstGeom>
          <a:solidFill>
            <a:srgbClr val="01607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62472" y="1344168"/>
            <a:ext cx="5715000" cy="109728"/>
          </a:xfrm>
          <a:prstGeom prst="rect">
            <a:avLst/>
          </a:prstGeom>
          <a:solidFill>
            <a:srgbClr val="01607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27064" y="10972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de Trabajo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1527048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Servicio prestado de forma remota y/o presencial según requerimiento del cliente.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2093976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 188 horas de consultoría son referenciales; el alcance es por entregable (fixed-scope).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2660904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Horas adicionales fuera del alcance definido se facturan a tarifa de 2.2 UF/hora + IVA.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429000"/>
            <a:ext cx="5715000" cy="2240280"/>
          </a:xfrm>
          <a:prstGeom prst="rect">
            <a:avLst>
              <a:gd name="adj" fmla="val 2449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" y="3429000"/>
            <a:ext cx="5715000" cy="402336"/>
          </a:xfrm>
          <a:prstGeom prst="rect">
            <a:avLst>
              <a:gd name="adj" fmla="val 13636"/>
            </a:avLst>
          </a:prstGeom>
          <a:solidFill>
            <a:srgbClr val="2E7D32"/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" y="3721608"/>
            <a:ext cx="571500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7472" y="34747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3904488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Opción 1: Se emite factura al completar y aprobar cada hito. Pago a 30 días.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4471416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Opción 2: Se emite factura los primeros 5 días hábiles de cada mes. Pago a 15 días.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20040" y="5038344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Medio de pago: transferencia bancaria a cuenta facilitada al inicio del proyecto.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62472" y="3429000"/>
            <a:ext cx="5715000" cy="2240280"/>
          </a:xfrm>
          <a:prstGeom prst="rect">
            <a:avLst>
              <a:gd name="adj" fmla="val 2449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062472" y="3429000"/>
            <a:ext cx="5715000" cy="402336"/>
          </a:xfrm>
          <a:prstGeom prst="rect">
            <a:avLst>
              <a:gd name="adj" fmla="val 13636"/>
            </a:avLst>
          </a:prstGeom>
          <a:solidFill>
            <a:srgbClr val="B7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6062472" y="3721608"/>
            <a:ext cx="5715000" cy="1097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27064" y="347472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99632" y="3904488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incluye licencias de QlikView Server, QlikSense ni software de terceros.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199632" y="4471416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incluye infraestructura de servidores, cloud hosting ni soporte post go-live.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199632" y="5038344"/>
            <a:ext cx="5458968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incluye extracción de datos de sistemas propietarios sin API o documentación disponible.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108960"/>
            <a:ext cx="121889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731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¿Avanzamos?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Propuesta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listos para iniciar la implementación de QlikView BI para el Proyecto GAM.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" y="3337560"/>
            <a:ext cx="2103120" cy="1280160"/>
          </a:xfrm>
          <a:prstGeom prst="rect">
            <a:avLst>
              <a:gd name="adj" fmla="val 5714"/>
            </a:avLst>
          </a:prstGeom>
          <a:solidFill>
            <a:srgbClr val="0D1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434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414.00 UF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38628" y="3337560"/>
            <a:ext cx="2103120" cy="1280160"/>
          </a:xfrm>
          <a:prstGeom prst="rect">
            <a:avLst>
              <a:gd name="adj" fmla="val 5714"/>
            </a:avLst>
          </a:prstGeom>
          <a:solidFill>
            <a:srgbClr val="0D1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38628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19%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38628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78.66 UF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42916" y="3337560"/>
            <a:ext cx="2103120" cy="1280160"/>
          </a:xfrm>
          <a:prstGeom prst="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42916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42916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492.66 UF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347204" y="3337560"/>
            <a:ext cx="2103120" cy="1280160"/>
          </a:xfrm>
          <a:prstGeom prst="rect">
            <a:avLst>
              <a:gd name="adj" fmla="val 5714"/>
            </a:avLst>
          </a:prstGeom>
          <a:solidFill>
            <a:srgbClr val="0D1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47204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47204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hrs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51492" y="3337560"/>
            <a:ext cx="2103120" cy="1280160"/>
          </a:xfrm>
          <a:prstGeom prst="rect">
            <a:avLst>
              <a:gd name="adj" fmla="val 5714"/>
            </a:avLst>
          </a:prstGeom>
          <a:solidFill>
            <a:srgbClr val="0D1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51492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5149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828800" y="48463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82880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267712" y="482803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opción de pago (Hitos o Cuotas Mensuales)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0" y="532180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828800" y="5321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267712" y="5303520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contrato de servicios y carta de confidencialidad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5797296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828800" y="5797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267712" y="577900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kick-off con equipo técnico GAM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2026-09-02T03:55:39Z</dcterms:created>
  <dcterms:modified xsi:type="dcterms:W3CDTF">2026-09-02T03:55:39Z</dcterms:modified>
</cp:coreProperties>
</file>